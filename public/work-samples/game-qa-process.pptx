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8229600" cx="14630400"/>
  <p:notesSz cx="8229600" cy="14630400"/>
  <p:embeddedFontLst>
    <p:embeddedFont>
      <p:font typeface="MuseoModerno Medium"/>
      <p:regular r:id="rId14"/>
      <p:bold r:id="rId15"/>
      <p:italic r:id="rId16"/>
      <p:boldItalic r:id="rId17"/>
    </p:embeddedFont>
    <p:embeddedFont>
      <p:font typeface="Source Sans 3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+oTC10E8KDgPNjTlVxIVRSsu0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Sans3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SourceSans3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useoModernoMedium-bold.fntdata"/><Relationship Id="rId14" Type="http://schemas.openxmlformats.org/officeDocument/2006/relationships/font" Target="fonts/MuseoModernoMedium-regular.fntdata"/><Relationship Id="rId17" Type="http://schemas.openxmlformats.org/officeDocument/2006/relationships/font" Target="fonts/MuseoModernoMedium-boldItalic.fntdata"/><Relationship Id="rId16" Type="http://schemas.openxmlformats.org/officeDocument/2006/relationships/font" Target="fonts/MuseoModernoMedium-italic.fntdata"/><Relationship Id="rId5" Type="http://schemas.openxmlformats.org/officeDocument/2006/relationships/slide" Target="slides/slide1.xml"/><Relationship Id="rId19" Type="http://schemas.openxmlformats.org/officeDocument/2006/relationships/font" Target="fonts/SourceSans3-bold.fntdata"/><Relationship Id="rId6" Type="http://schemas.openxmlformats.org/officeDocument/2006/relationships/slide" Target="slides/slide2.xml"/><Relationship Id="rId18" Type="http://schemas.openxmlformats.org/officeDocument/2006/relationships/font" Target="fonts/SourceSans3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" name="Google Shape;37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Google Shape;4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" name="Google Shape;16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8" name="Google Shape;18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4" name="Google Shape;21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"/>
          <p:cNvSpPr/>
          <p:nvPr/>
        </p:nvSpPr>
        <p:spPr>
          <a:xfrm>
            <a:off x="793790" y="2464832"/>
            <a:ext cx="782431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4450"/>
              <a:buFont typeface="MuseoModerno Medium"/>
              <a:buNone/>
            </a:pPr>
            <a:r>
              <a:rPr b="0" i="0" lang="en-US" sz="44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모바일 MMORPG QA 프로세스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793790" y="3513773"/>
            <a:ext cx="6024920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3550"/>
              <a:buFont typeface="MuseoModerno Medium"/>
              <a:buNone/>
            </a:pPr>
            <a:r>
              <a:rPr b="0" i="0" lang="en-US" sz="35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테스트 플로우 및 개선 사례 정리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793790" y="442091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750"/>
              <a:buFont typeface="Source Sans 3"/>
              <a:buNone/>
            </a:pPr>
            <a:r>
              <a:rPr b="0" i="0" lang="en-US" sz="17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작성자: 김태림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793790" y="5038963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750"/>
              <a:buFont typeface="Source Sans 3"/>
              <a:buNone/>
            </a:pPr>
            <a:r>
              <a:rPr b="0" i="0" lang="en-US" sz="17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본 자료는 모바일 MMORPG 개발 과정에서 효율적인 QA 프로세스 구축을 위한 체계적인 접근법과 실제 사례를 소개합니다. 각 단계별 핵심 포인트와 개선 사항을 중심으로 설명합니다.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"/>
          <p:cNvSpPr/>
          <p:nvPr/>
        </p:nvSpPr>
        <p:spPr>
          <a:xfrm>
            <a:off x="692348" y="545425"/>
            <a:ext cx="3214568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500"/>
              <a:buFont typeface="MuseoModerno Medium"/>
              <a:buNone/>
            </a:pPr>
            <a:r>
              <a:rPr lang="en-US" sz="2500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01_개요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" name="Google Shape;4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348" y="1204317"/>
            <a:ext cx="385643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1206460" y="1332786"/>
            <a:ext cx="1607225" cy="200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250"/>
              <a:buFont typeface="MuseoModerno Medium"/>
              <a:buNone/>
            </a:pPr>
            <a:r>
              <a:rPr lang="en-US" sz="1250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QA 요청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206460" y="1610678"/>
            <a:ext cx="1273159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00"/>
              <a:buFont typeface="Source Sans 3"/>
              <a:buNone/>
            </a:pPr>
            <a:r>
              <a:rPr lang="en-US" sz="10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기획/개발팀의 테스트 요청 수렴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111" y="2104192"/>
            <a:ext cx="385643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1399223" y="2232660"/>
            <a:ext cx="1607225" cy="200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250"/>
              <a:buFont typeface="MuseoModerno Medium"/>
              <a:buNone/>
            </a:pPr>
            <a:r>
              <a:rPr lang="en-US" sz="1250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테스트 플랜 수립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399223" y="2510552"/>
            <a:ext cx="1253882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00"/>
              <a:buFont typeface="Source Sans 3"/>
              <a:buNone/>
            </a:pPr>
            <a:r>
              <a:rPr lang="en-US" sz="10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범위 및 일정 계획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7992" y="3004066"/>
            <a:ext cx="385643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/>
          <p:nvPr/>
        </p:nvSpPr>
        <p:spPr>
          <a:xfrm>
            <a:off x="1592104" y="3132534"/>
            <a:ext cx="1607225" cy="200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250"/>
              <a:buFont typeface="MuseoModerno Medium"/>
              <a:buNone/>
            </a:pPr>
            <a:r>
              <a:rPr lang="en-US" sz="1250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QA 준비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592104" y="3410426"/>
            <a:ext cx="1234594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00"/>
              <a:buFont typeface="Source Sans 3"/>
              <a:buNone/>
            </a:pPr>
            <a:r>
              <a:rPr lang="en-US" sz="10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기획서 리뷰 및 테스트 케이스 작성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" name="Google Shape;5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0873" y="3903940"/>
            <a:ext cx="385643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/>
          <p:nvPr/>
        </p:nvSpPr>
        <p:spPr>
          <a:xfrm>
            <a:off x="1784985" y="4032409"/>
            <a:ext cx="1607225" cy="200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250"/>
              <a:buFont typeface="MuseoModerno Medium"/>
              <a:buNone/>
            </a:pPr>
            <a:r>
              <a:rPr lang="en-US" sz="1250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BAT 테스트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784985" y="4310301"/>
            <a:ext cx="1215306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00"/>
              <a:buFont typeface="Source Sans 3"/>
              <a:buNone/>
            </a:pPr>
            <a:r>
              <a:rPr lang="en-US" sz="10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빌드 안정성 검증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7992" y="4803815"/>
            <a:ext cx="385643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/>
          <p:nvPr/>
        </p:nvSpPr>
        <p:spPr>
          <a:xfrm>
            <a:off x="1592104" y="4932283"/>
            <a:ext cx="1607225" cy="200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250"/>
              <a:buFont typeface="MuseoModerno Medium"/>
              <a:buNone/>
            </a:pPr>
            <a:r>
              <a:rPr lang="en-US" sz="1250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QA 진행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592104" y="5210175"/>
            <a:ext cx="1234594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00"/>
              <a:buFont typeface="Source Sans 3"/>
              <a:buNone/>
            </a:pPr>
            <a:r>
              <a:rPr lang="en-US" sz="10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테스트 케이스 기반 검증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111" y="5703689"/>
            <a:ext cx="385643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/>
          <p:nvPr/>
        </p:nvSpPr>
        <p:spPr>
          <a:xfrm>
            <a:off x="1399223" y="5832158"/>
            <a:ext cx="1607225" cy="200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250"/>
              <a:buFont typeface="MuseoModerno Medium"/>
              <a:buNone/>
            </a:pPr>
            <a:r>
              <a:rPr lang="en-US" sz="1250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QA 종료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1399223" y="6110049"/>
            <a:ext cx="1253882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00"/>
              <a:buFont typeface="Source Sans 3"/>
              <a:buNone/>
            </a:pPr>
            <a:r>
              <a:rPr lang="en-US" sz="10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결과 보고 및 포스트 모텀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" name="Google Shape;6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348" y="6603563"/>
            <a:ext cx="385643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/>
          <p:nvPr/>
        </p:nvSpPr>
        <p:spPr>
          <a:xfrm>
            <a:off x="1206460" y="6732032"/>
            <a:ext cx="1607225" cy="200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250"/>
              <a:buFont typeface="MuseoModerno Medium"/>
              <a:buNone/>
            </a:pPr>
            <a:r>
              <a:rPr lang="en-US" sz="1250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사후 관리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1206460" y="7009924"/>
            <a:ext cx="1273159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000"/>
              <a:buFont typeface="Source Sans 3"/>
              <a:buNone/>
            </a:pPr>
            <a:r>
              <a:rPr lang="en-US" sz="10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라이브 모니터링 및 핫픽스 검증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92348" y="7519511"/>
            <a:ext cx="13245703" cy="164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800"/>
              <a:buFont typeface="Source Sans 3"/>
              <a:buNone/>
            </a:pPr>
            <a:r>
              <a:rPr lang="en-US" sz="8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모바일 MMORPG QA 프로세스는 위 7단계로 구성되며, 각 단계마다 특화된 접근법과 주요 활동이 있습니다.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/>
          <p:nvPr/>
        </p:nvSpPr>
        <p:spPr>
          <a:xfrm>
            <a:off x="793790" y="986433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4450"/>
              <a:buFont typeface="MuseoModerno Medium"/>
              <a:buNone/>
            </a:pPr>
            <a:r>
              <a:rPr lang="en-US" sz="4450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02_QA 요청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793790" y="2262188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325F7B"/>
              </a:buClr>
              <a:buSzPts val="2650"/>
              <a:buFont typeface="MuseoModerno Medium"/>
              <a:buNone/>
            </a:pPr>
            <a:r>
              <a:rPr lang="en-US" sz="2650">
                <a:solidFill>
                  <a:srgbClr val="325F7B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발생 주체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93790" y="2914293"/>
            <a:ext cx="760428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750"/>
              <a:buFont typeface="Source Sans 3"/>
              <a:buNone/>
            </a:pP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기획팀 / 개발팀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93790" y="3504009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325F7B"/>
              </a:buClr>
              <a:buSzPts val="2650"/>
              <a:buFont typeface="MuseoModerno Medium"/>
              <a:buNone/>
            </a:pPr>
            <a:r>
              <a:rPr lang="en-US" sz="2650">
                <a:solidFill>
                  <a:srgbClr val="325F7B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요청 내용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793790" y="4156115"/>
            <a:ext cx="760428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750"/>
              <a:buFont typeface="Source Sans 3"/>
              <a:buChar char="•"/>
            </a:pP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신규 업데이트 컨텐츠에 대한 QA 요청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793790" y="4598313"/>
            <a:ext cx="760428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750"/>
              <a:buFont typeface="Source Sans 3"/>
              <a:buChar char="•"/>
            </a:pP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추후 업데이트 예정인 대형 컨텐츠 사전 기능 테스트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793790" y="5188029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325F7B"/>
              </a:buClr>
              <a:buSzPts val="2650"/>
              <a:buFont typeface="MuseoModerno Medium"/>
              <a:buNone/>
            </a:pPr>
            <a:r>
              <a:rPr lang="en-US" sz="2650">
                <a:solidFill>
                  <a:srgbClr val="325F7B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QA 포인트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93790" y="5840135"/>
            <a:ext cx="760428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750"/>
              <a:buFont typeface="Source Sans 3"/>
              <a:buNone/>
            </a:pP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요청 시점에 </a:t>
            </a:r>
            <a:r>
              <a:rPr b="1"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테스트 범위와 주요 기능을 명확히 전달 받아야</a:t>
            </a: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효율적인 테스트가 가능합니다.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8959096" y="2290524"/>
            <a:ext cx="4885015" cy="4697492"/>
          </a:xfrm>
          <a:prstGeom prst="roundRect">
            <a:avLst>
              <a:gd fmla="val 724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5910" y="2600206"/>
            <a:ext cx="354330" cy="2834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9767054" y="257401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MuseoModerno Medium"/>
              <a:buNone/>
            </a:pPr>
            <a:r>
              <a:rPr lang="en-US" sz="2200">
                <a:solidFill>
                  <a:srgbClr val="00000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실제 사례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67054" y="3155156"/>
            <a:ext cx="385024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Source Sans 3"/>
              <a:buNone/>
            </a:pPr>
            <a:r>
              <a:rPr b="1"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상황:</a:t>
            </a:r>
            <a:r>
              <a:rPr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기획팀으로부터 신규 아이템 QA 요청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9767054" y="4085034"/>
            <a:ext cx="385024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Source Sans 3"/>
              <a:buNone/>
            </a:pPr>
            <a:r>
              <a:rPr b="1"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QA 활동:</a:t>
            </a:r>
            <a:r>
              <a:rPr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라이브 모니터링 및 실제 플레이 데이터 기반 검증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9767054" y="5014913"/>
            <a:ext cx="385024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Source Sans 3"/>
              <a:buNone/>
            </a:pPr>
            <a:r>
              <a:rPr b="1"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발견 사항:</a:t>
            </a:r>
            <a:r>
              <a:rPr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아이템 도입 시 특정 세력의 전력 균형이 크게 흔들릴 리스크 존재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9767054" y="5944791"/>
            <a:ext cx="385024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Source Sans 3"/>
              <a:buNone/>
            </a:pPr>
            <a:r>
              <a:rPr b="1"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결과:</a:t>
            </a:r>
            <a:r>
              <a:rPr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사전 검증 결과 공유로 업데이트 보류, 게임 밸런스 붕괴 예방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/>
          <p:nvPr/>
        </p:nvSpPr>
        <p:spPr>
          <a:xfrm>
            <a:off x="793790" y="756761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4450"/>
              <a:buFont typeface="MuseoModerno Medium"/>
              <a:buNone/>
            </a:pPr>
            <a:r>
              <a:rPr lang="en-US" sz="4450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03_테스트 플랜 수립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793790" y="1805702"/>
            <a:ext cx="5054798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650"/>
              <a:buFont typeface="MuseoModerno Medium"/>
              <a:buNone/>
            </a:pPr>
            <a:r>
              <a:rPr lang="en-US" sz="2650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테스트 범위와 기간을 수립하는 단계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793790" y="2826306"/>
            <a:ext cx="6244709" cy="1900833"/>
          </a:xfrm>
          <a:prstGeom prst="roundRect">
            <a:avLst>
              <a:gd fmla="val 1790" name="adj"/>
            </a:avLst>
          </a:prstGeom>
          <a:solidFill>
            <a:srgbClr val="FFFCF5"/>
          </a:solidFill>
          <a:ln cap="flat" cmpd="sng" w="30475">
            <a:solidFill>
              <a:srgbClr val="D9D4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793790" y="2826306"/>
            <a:ext cx="121920" cy="1900833"/>
          </a:xfrm>
          <a:prstGeom prst="roundRect">
            <a:avLst>
              <a:gd fmla="val 27907" name="adj"/>
            </a:avLst>
          </a:prstGeom>
          <a:solidFill>
            <a:srgbClr val="325F7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173004" y="308360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2200"/>
              <a:buFont typeface="MuseoModerno Medium"/>
              <a:buNone/>
            </a:pPr>
            <a:r>
              <a:rPr lang="en-US" sz="2200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주요 활동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173004" y="3664744"/>
            <a:ext cx="560820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750"/>
              <a:buFont typeface="Source Sans 3"/>
              <a:buChar char="•"/>
            </a:pP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테스트 범위와 일정 수립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173004" y="4106942"/>
            <a:ext cx="560820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750"/>
              <a:buFont typeface="Source Sans 3"/>
              <a:buChar char="•"/>
            </a:pP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발생 버그 </a:t>
            </a: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수정 </a:t>
            </a: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등 리스크를 고려한 1~2일 여유 시간 포함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793790" y="4953953"/>
            <a:ext cx="6244709" cy="2263735"/>
          </a:xfrm>
          <a:prstGeom prst="roundRect">
            <a:avLst>
              <a:gd fmla="val 1503" name="adj"/>
            </a:avLst>
          </a:prstGeom>
          <a:solidFill>
            <a:srgbClr val="FFFCF5"/>
          </a:solidFill>
          <a:ln cap="flat" cmpd="sng" w="30475">
            <a:solidFill>
              <a:srgbClr val="D9D4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793790" y="4953953"/>
            <a:ext cx="121920" cy="2263735"/>
          </a:xfrm>
          <a:prstGeom prst="roundRect">
            <a:avLst>
              <a:gd fmla="val 27907" name="adj"/>
            </a:avLst>
          </a:prstGeom>
          <a:solidFill>
            <a:srgbClr val="325F7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1173004" y="52112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2200"/>
              <a:buFont typeface="MuseoModerno Medium"/>
              <a:buNone/>
            </a:pPr>
            <a:r>
              <a:rPr lang="en-US" sz="2200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QA 포인트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173004" y="5792391"/>
            <a:ext cx="560820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750"/>
              <a:buFont typeface="Source Sans 3"/>
              <a:buChar char="•"/>
            </a:pP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MMORPG는 시스템 간 상호 연동되는 부분이 많아 예상치 못한 리스크 발생 가능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173004" y="6597491"/>
            <a:ext cx="560820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750"/>
              <a:buFont typeface="Source Sans 3"/>
              <a:buChar char="•"/>
            </a:pP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일정 산정 시 컨텐츠의 복잡성과 연동 요소 고려 필수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7599521" y="2826306"/>
            <a:ext cx="6244709" cy="3041809"/>
          </a:xfrm>
          <a:prstGeom prst="roundRect">
            <a:avLst>
              <a:gd fmla="val 1119" name="adj"/>
            </a:avLst>
          </a:prstGeom>
          <a:solidFill>
            <a:srgbClr val="C9DD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6335" y="3135987"/>
            <a:ext cx="354330" cy="28348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/>
          <p:nvPr/>
        </p:nvSpPr>
        <p:spPr>
          <a:xfrm>
            <a:off x="8407479" y="310979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MuseoModerno Medium"/>
              <a:buNone/>
            </a:pPr>
            <a:r>
              <a:rPr lang="en-US" sz="2200">
                <a:solidFill>
                  <a:srgbClr val="00000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실제 사례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8407479" y="3690938"/>
            <a:ext cx="520993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Source Sans 3"/>
              <a:buNone/>
            </a:pPr>
            <a:r>
              <a:rPr b="1"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상황:</a:t>
            </a:r>
            <a:r>
              <a:rPr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길드 보스 QA 요청과 클래스 리워크 테스트 일정 충돌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8407479" y="4620816"/>
            <a:ext cx="520993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Source Sans 3"/>
              <a:buNone/>
            </a:pPr>
            <a:r>
              <a:rPr b="1"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QA 활동:</a:t>
            </a:r>
            <a:r>
              <a:rPr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우선순위 조정 및 2주 추가 기간 설정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407479" y="5187791"/>
            <a:ext cx="520993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Source Sans 3"/>
              <a:buNone/>
            </a:pPr>
            <a:r>
              <a:rPr b="1"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결과:</a:t>
            </a:r>
            <a:r>
              <a:rPr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QA 일정 충돌 최소화, 안정적 검증 완료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777954" y="930473"/>
            <a:ext cx="5001697" cy="625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3900"/>
              <a:buFont typeface="MuseoModerno Medium"/>
              <a:buNone/>
            </a:pPr>
            <a:r>
              <a:rPr lang="en-US" sz="3900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04_QA 준비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777954" y="1855708"/>
            <a:ext cx="3630573" cy="375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350"/>
              <a:buFont typeface="MuseoModerno Medium"/>
              <a:buNone/>
            </a:pPr>
            <a:r>
              <a:rPr lang="en-US" sz="2350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실제 테스트를 위한 준비 단계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77954" y="2530912"/>
            <a:ext cx="4224814" cy="1932742"/>
          </a:xfrm>
          <a:prstGeom prst="roundRect">
            <a:avLst>
              <a:gd fmla="val 1553" name="adj"/>
            </a:avLst>
          </a:prstGeom>
          <a:solidFill>
            <a:srgbClr val="F3EE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977979" y="2730937"/>
            <a:ext cx="2500789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950"/>
              <a:buFont typeface="MuseoModerno Medium"/>
              <a:buNone/>
            </a:pPr>
            <a:r>
              <a:rPr lang="en-US" sz="1950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기획서 관련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977979" y="3163491"/>
            <a:ext cx="38247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550"/>
              <a:buFont typeface="Source Sans 3"/>
              <a:buChar char="•"/>
            </a:pPr>
            <a:r>
              <a:rPr lang="en-US" sz="15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기획서 수령 및 리뷰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977979" y="3553539"/>
            <a:ext cx="38247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550"/>
              <a:buFont typeface="Source Sans 3"/>
              <a:buChar char="•"/>
            </a:pPr>
            <a:r>
              <a:rPr lang="en-US" sz="15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기획 오류, 누락 사전 검출 및 피드백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977979" y="3943588"/>
            <a:ext cx="38247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550"/>
              <a:buFont typeface="Source Sans 3"/>
              <a:buChar char="•"/>
            </a:pPr>
            <a:r>
              <a:rPr lang="en-US" sz="15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기획 의도 확인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202793" y="2530912"/>
            <a:ext cx="4224814" cy="1932742"/>
          </a:xfrm>
          <a:prstGeom prst="roundRect">
            <a:avLst>
              <a:gd fmla="val 1553" name="adj"/>
            </a:avLst>
          </a:prstGeom>
          <a:solidFill>
            <a:srgbClr val="F3EE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402818" y="2730937"/>
            <a:ext cx="2500789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950"/>
              <a:buFont typeface="MuseoModerno Medium"/>
              <a:buNone/>
            </a:pPr>
            <a:r>
              <a:rPr lang="en-US" sz="1950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환경 세팅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402818" y="3163491"/>
            <a:ext cx="38247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550"/>
              <a:buFont typeface="Source Sans 3"/>
              <a:buChar char="•"/>
            </a:pPr>
            <a:r>
              <a:rPr lang="en-US" sz="15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필요 툴 준비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402818" y="3553539"/>
            <a:ext cx="38247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550"/>
              <a:buFont typeface="Source Sans 3"/>
              <a:buChar char="•"/>
            </a:pPr>
            <a:r>
              <a:rPr lang="en-US" sz="15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테스트 계정 세팅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402818" y="3943588"/>
            <a:ext cx="38247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550"/>
              <a:buFont typeface="Source Sans 3"/>
              <a:buChar char="•"/>
            </a:pPr>
            <a:r>
              <a:rPr lang="en-US" sz="15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테스트 환경 구성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9627632" y="2530912"/>
            <a:ext cx="4224814" cy="1932742"/>
          </a:xfrm>
          <a:prstGeom prst="roundRect">
            <a:avLst>
              <a:gd fmla="val 1553" name="adj"/>
            </a:avLst>
          </a:prstGeom>
          <a:solidFill>
            <a:srgbClr val="F3EE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9827657" y="2730937"/>
            <a:ext cx="2500789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950"/>
              <a:buFont typeface="MuseoModerno Medium"/>
              <a:buNone/>
            </a:pPr>
            <a:r>
              <a:rPr lang="en-US" sz="1950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케이스 작성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9827657" y="3163491"/>
            <a:ext cx="38247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550"/>
              <a:buFont typeface="Source Sans 3"/>
              <a:buChar char="•"/>
            </a:pPr>
            <a:r>
              <a:rPr lang="en-US" sz="15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테스트 케이스(TC) 작성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9827657" y="3553539"/>
            <a:ext cx="38247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550"/>
              <a:buFont typeface="Source Sans 3"/>
              <a:buChar char="•"/>
            </a:pPr>
            <a:r>
              <a:rPr lang="en-US" sz="15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체크리스트(CL) 작성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9827657" y="3943588"/>
            <a:ext cx="38247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550"/>
              <a:buFont typeface="Source Sans 3"/>
              <a:buChar char="•"/>
            </a:pPr>
            <a:r>
              <a:rPr lang="en-US" sz="15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우선순위 설정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077992" y="4988719"/>
            <a:ext cx="3000970" cy="375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350"/>
              <a:buFont typeface="MuseoModerno Medium"/>
              <a:buNone/>
            </a:pPr>
            <a:r>
              <a:rPr lang="en-US" sz="2350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실제 사례</a:t>
            </a:r>
            <a:endParaRPr sz="2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077992" y="5663922"/>
            <a:ext cx="1277445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550"/>
              <a:buFont typeface="Source Sans 3"/>
              <a:buNone/>
            </a:pPr>
            <a:r>
              <a:rPr b="1" lang="en-US" sz="15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상황:</a:t>
            </a:r>
            <a:r>
              <a:rPr lang="en-US" sz="15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기획서 리뷰 과정에서 기존 기능이 삭제, 변경되었음에도 관련 항목이 여전히 기획 문서 내 남아있어 내용 충돌 발생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077992" y="6208990"/>
            <a:ext cx="1277445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550"/>
              <a:buFont typeface="Source Sans 3"/>
              <a:buNone/>
            </a:pPr>
            <a:r>
              <a:rPr b="1" lang="en-US" sz="15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QA 활동:</a:t>
            </a:r>
            <a:r>
              <a:rPr lang="en-US" sz="15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QA 진행 전 기획서를 꼼꼼히 검토하여 </a:t>
            </a:r>
            <a:r>
              <a:rPr b="1" lang="en-US" sz="155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삭제, 변경된 항목과 충돌되는 부분</a:t>
            </a:r>
            <a:r>
              <a:rPr lang="en-US" sz="15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을 식별, 문제 항목을 정리하여 기획팀에 사전 전달, </a:t>
            </a:r>
            <a:r>
              <a:rPr b="1" lang="en-US" sz="155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문서 정합성 확보 요청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077992" y="6754058"/>
            <a:ext cx="1277445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550"/>
              <a:buFont typeface="Source Sans 3"/>
              <a:buNone/>
            </a:pPr>
            <a:r>
              <a:rPr b="1" lang="en-US" sz="15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결과:</a:t>
            </a:r>
            <a:r>
              <a:rPr lang="en-US" sz="15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기획 단계에서 수정 사항 반영으로 QA 리소스 낭비를 사전에 차단, 테스트 진행 후 불필요한 충돌 이슈가 발생하지 않아 전체 QA 일정이 안정적으로 진행됨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777954" y="4688681"/>
            <a:ext cx="22860" cy="2610445"/>
          </a:xfrm>
          <a:prstGeom prst="rect">
            <a:avLst/>
          </a:prstGeom>
          <a:solidFill>
            <a:srgbClr val="325F7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/>
          <p:nvPr/>
        </p:nvSpPr>
        <p:spPr>
          <a:xfrm>
            <a:off x="789503" y="620316"/>
            <a:ext cx="5357336" cy="669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4200"/>
              <a:buFont typeface="MuseoModerno Medium"/>
              <a:buNone/>
            </a:pPr>
            <a:r>
              <a:rPr lang="en-US" sz="4200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05_BAT 테스트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789503" y="1611392"/>
            <a:ext cx="7355800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500"/>
              <a:buFont typeface="MuseoModerno Medium"/>
              <a:buNone/>
            </a:pPr>
            <a:r>
              <a:rPr lang="en-US" sz="2500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빌드 수령 후 기본 기능과 핵심 기능 정상 작동 확인 단계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" name="Google Shape;1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503" y="2575560"/>
            <a:ext cx="1071443" cy="2155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/>
          <p:nvPr/>
        </p:nvSpPr>
        <p:spPr>
          <a:xfrm>
            <a:off x="2075140" y="2789753"/>
            <a:ext cx="2678668" cy="33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2100"/>
              <a:buFont typeface="MuseoModerno Medium"/>
              <a:buNone/>
            </a:pPr>
            <a:r>
              <a:rPr lang="en-US" sz="2100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주요 활동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2075140" y="3338751"/>
            <a:ext cx="565737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650"/>
              <a:buFont typeface="Source Sans 3"/>
              <a:buChar char="•"/>
            </a:pPr>
            <a:r>
              <a:rPr lang="en-US" sz="16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수령한 빌드 정상 동작 여부 확인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2075140" y="3756541"/>
            <a:ext cx="565737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650"/>
              <a:buFont typeface="Source Sans 3"/>
              <a:buChar char="•"/>
            </a:pPr>
            <a:r>
              <a:rPr lang="en-US" sz="16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핵심 기능(결제, 로그인) 및 기본 기능 테스트 가능 여부 확인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2075140" y="4174331"/>
            <a:ext cx="565737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650"/>
              <a:buFont typeface="Source Sans 3"/>
              <a:buChar char="•"/>
            </a:pPr>
            <a:r>
              <a:rPr lang="en-US" sz="16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요청 컨텐츠 테스트 가능 여부 확인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9503" y="4731425"/>
            <a:ext cx="1071443" cy="132028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/>
          <p:nvPr/>
        </p:nvSpPr>
        <p:spPr>
          <a:xfrm>
            <a:off x="2075140" y="4945618"/>
            <a:ext cx="2678668" cy="33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MuseoModerno Medium"/>
              <a:buNone/>
            </a:pPr>
            <a:r>
              <a:rPr lang="en-US" sz="2100">
                <a:solidFill>
                  <a:srgbClr val="FF000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Fail</a:t>
            </a:r>
            <a:r>
              <a:rPr lang="en-US" sz="2100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 시 대응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2075140" y="5494615"/>
            <a:ext cx="565737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650"/>
              <a:buFont typeface="Source Sans 3"/>
              <a:buNone/>
            </a:pPr>
            <a:r>
              <a:rPr lang="en-US" sz="16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테스트 불가 보고 → 빌드 재수령 or 일정 재조정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6" name="Google Shape;15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9503" y="6051709"/>
            <a:ext cx="1071443" cy="132028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/>
          <p:nvPr/>
        </p:nvSpPr>
        <p:spPr>
          <a:xfrm>
            <a:off x="2075140" y="6265902"/>
            <a:ext cx="2678668" cy="33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2100"/>
              <a:buFont typeface="MuseoModerno Medium"/>
              <a:buNone/>
            </a:pPr>
            <a:r>
              <a:rPr lang="en-US" sz="2100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QA 포인트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2075140" y="6814899"/>
            <a:ext cx="565737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650"/>
              <a:buFont typeface="Source Sans 3"/>
              <a:buNone/>
            </a:pPr>
            <a:r>
              <a:rPr lang="en-US" sz="16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MMORPG는 '</a:t>
            </a:r>
            <a:r>
              <a:rPr b="1" lang="en-US" sz="165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빌드 안정성</a:t>
            </a:r>
            <a:r>
              <a:rPr lang="en-US" sz="16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'이 낮으면 QA 불가로 BAT는 필수 단계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8262818" y="2575560"/>
            <a:ext cx="5585579" cy="3902273"/>
          </a:xfrm>
          <a:prstGeom prst="roundRect">
            <a:avLst>
              <a:gd fmla="val 824" name="adj"/>
            </a:avLst>
          </a:prstGeom>
          <a:solidFill>
            <a:srgbClr val="FFB3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0" name="Google Shape;16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7012" y="2860358"/>
            <a:ext cx="334804" cy="26777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"/>
          <p:cNvSpPr/>
          <p:nvPr/>
        </p:nvSpPr>
        <p:spPr>
          <a:xfrm>
            <a:off x="9026009" y="2843213"/>
            <a:ext cx="2678668" cy="33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useoModerno Medium"/>
              <a:buNone/>
            </a:pPr>
            <a:r>
              <a:rPr lang="en-US" sz="2100">
                <a:solidFill>
                  <a:srgbClr val="00000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실제 사례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9026009" y="3392210"/>
            <a:ext cx="4608195" cy="878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Source Sans 3"/>
              <a:buNone/>
            </a:pPr>
            <a:r>
              <a:rPr b="1" lang="en-US" sz="16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상황:</a:t>
            </a:r>
            <a:r>
              <a:rPr lang="en-US" sz="16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신규 컨텐츠 QA 진행 중, 특정 세부 메뉴에 진입하면 </a:t>
            </a:r>
            <a:r>
              <a:rPr b="1" lang="en-US" sz="165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빌드 크래시가 발생</a:t>
            </a:r>
            <a:r>
              <a:rPr lang="en-US" sz="16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하여 정상적인 테스트 불가</a:t>
            </a:r>
            <a:endParaRPr sz="1650"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9025958" y="4270779"/>
            <a:ext cx="4608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Source Sans 3"/>
              <a:buNone/>
            </a:pPr>
            <a:r>
              <a:rPr b="1" lang="en-US" sz="16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QA 활동:</a:t>
            </a:r>
            <a:r>
              <a:rPr lang="en-US" sz="16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BAT 단계에서 빌드 안정성 확인 중 크래시 즉시 발견, </a:t>
            </a:r>
            <a:r>
              <a:rPr b="1" lang="en-US" sz="165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테스트 불가 상태</a:t>
            </a:r>
            <a:r>
              <a:rPr lang="en-US" sz="16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를 개발팀에 즉시 공유, </a:t>
            </a:r>
            <a:r>
              <a:rPr b="1" lang="en-US" sz="165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빌드 수정 요청 및 재배포 일정 확인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9026009" y="5492234"/>
            <a:ext cx="460819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Source Sans 3"/>
              <a:buNone/>
            </a:pPr>
            <a:r>
              <a:rPr b="1" lang="en-US" sz="16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결과:</a:t>
            </a:r>
            <a:r>
              <a:rPr lang="en-US" sz="16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개발팀이 크래시 원인을 수정하고 안정화된 빌드를 재배포, QA 정상 진행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/>
          <p:nvPr/>
        </p:nvSpPr>
        <p:spPr>
          <a:xfrm>
            <a:off x="793790" y="64901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4450"/>
              <a:buFont typeface="MuseoModerno Medium"/>
              <a:buNone/>
            </a:pPr>
            <a:r>
              <a:rPr lang="en-US" sz="4450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06_QA 진행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793790" y="1924764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325F7B"/>
              </a:buClr>
              <a:buSzPts val="2650"/>
              <a:buFont typeface="MuseoModerno Medium"/>
              <a:buNone/>
            </a:pPr>
            <a:r>
              <a:rPr lang="en-US" sz="2650">
                <a:solidFill>
                  <a:srgbClr val="325F7B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주요 활동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793790" y="2576870"/>
            <a:ext cx="488501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750"/>
              <a:buFont typeface="Source Sans 3"/>
              <a:buChar char="•"/>
            </a:pP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작성된 테스트 케이스 기반 테스트 수행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793790" y="3019068"/>
            <a:ext cx="488501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750"/>
              <a:buFont typeface="Source Sans 3"/>
              <a:buChar char="•"/>
            </a:pP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버그 발생 시 BTS 등록 및 추적 관리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793790" y="3461266"/>
            <a:ext cx="488501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750"/>
              <a:buFont typeface="Source Sans 3"/>
              <a:buChar char="•"/>
            </a:pP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테스트 사이클 최소 1회 이상 수행 후 결과 분석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793790" y="3903464"/>
            <a:ext cx="48850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750"/>
              <a:buFont typeface="Source Sans 3"/>
              <a:buChar char="•"/>
            </a:pP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경험 기반의 보강 테스트 진행(명세 외 연동 영역 포함)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793790" y="4708565"/>
            <a:ext cx="488501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750"/>
              <a:buFont typeface="Source Sans 3"/>
              <a:buChar char="•"/>
            </a:pP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수정된 버그의 재검증(Regression Test) 수행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239828" y="1924764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325F7B"/>
              </a:buClr>
              <a:buSzPts val="2650"/>
              <a:buFont typeface="MuseoModerno Medium"/>
              <a:buNone/>
            </a:pPr>
            <a:r>
              <a:rPr lang="en-US" sz="2650">
                <a:solidFill>
                  <a:srgbClr val="325F7B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QA 포인트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239828" y="2576870"/>
            <a:ext cx="760428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750"/>
              <a:buFont typeface="Source Sans 3"/>
              <a:buNone/>
            </a:pPr>
            <a:r>
              <a:rPr lang="en-US" sz="17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MMORPG는 시스템이 맞물려 있어 케이스 간 영향 범위가 넓습니다. 경험 기반 시나리오 등을 추가해야 실제 유저 플레이 패턴에 대한 반영 및 대응이 가능합니다.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239828" y="3557826"/>
            <a:ext cx="7604284" cy="3767614"/>
          </a:xfrm>
          <a:prstGeom prst="roundRect">
            <a:avLst>
              <a:gd fmla="val 903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0" name="Google Shape;18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6642" y="3867507"/>
            <a:ext cx="354330" cy="28348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7"/>
          <p:cNvSpPr/>
          <p:nvPr/>
        </p:nvSpPr>
        <p:spPr>
          <a:xfrm>
            <a:off x="7047786" y="384131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MuseoModerno Medium"/>
              <a:buNone/>
            </a:pPr>
            <a:r>
              <a:rPr lang="en-US" sz="2200">
                <a:solidFill>
                  <a:srgbClr val="00000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실제 사례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7047786" y="4422458"/>
            <a:ext cx="656951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Source Sans 3"/>
              <a:buNone/>
            </a:pPr>
            <a:r>
              <a:rPr b="1"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상황:</a:t>
            </a:r>
            <a:r>
              <a:rPr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신규 스킬이 사용하는 </a:t>
            </a:r>
            <a:r>
              <a:rPr b="1" lang="en-US" sz="175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스킬 모듈이 기존 스킬과 동일</a:t>
            </a:r>
            <a:r>
              <a:rPr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하여 이슈 발생 시 </a:t>
            </a:r>
            <a:r>
              <a:rPr b="1" lang="en-US" sz="175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기존 스킬에 영향을 끼칠 수 있음</a:t>
            </a:r>
            <a:r>
              <a:rPr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을 발견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7047786" y="5352336"/>
            <a:ext cx="656951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Source Sans 3"/>
              <a:buNone/>
            </a:pPr>
            <a:r>
              <a:rPr b="1"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QA 활동:</a:t>
            </a:r>
            <a:r>
              <a:rPr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연동 케이스를 보강하여 </a:t>
            </a:r>
            <a:r>
              <a:rPr b="1" lang="en-US" sz="175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기존 스킬과 신규 스킬 간 리스크 검증</a:t>
            </a:r>
            <a:r>
              <a:rPr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진행, 모듈 단위로 영향 범위를 분석하여 </a:t>
            </a:r>
            <a:r>
              <a:rPr b="1" lang="en-US" sz="175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조기 리스크 식별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7047786" y="6282214"/>
            <a:ext cx="656951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Source Sans 3"/>
              <a:buNone/>
            </a:pPr>
            <a:r>
              <a:rPr b="1"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결과:</a:t>
            </a:r>
            <a:r>
              <a:rPr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신규 스킬에서 발생한 이슈가 기존 스킬에서 </a:t>
            </a:r>
            <a:r>
              <a:rPr b="1" lang="en-US" sz="175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재현됨을 확인</a:t>
            </a:r>
            <a:r>
              <a:rPr lang="en-US" sz="175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, 사전에 개발팀과 공유 및 수정하여 라이브 환경 이슈를 예방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/>
          <p:nvPr/>
        </p:nvSpPr>
        <p:spPr>
          <a:xfrm>
            <a:off x="793790" y="628055"/>
            <a:ext cx="4536519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3550"/>
              <a:buFont typeface="MuseoModerno Medium"/>
              <a:buNone/>
            </a:pPr>
            <a:r>
              <a:rPr lang="en-US" sz="3550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07_QA 종료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793790" y="1467207"/>
            <a:ext cx="3794165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100"/>
              <a:buFont typeface="MuseoModerno Medium"/>
              <a:buNone/>
            </a:pPr>
            <a:r>
              <a:rPr lang="en-US" sz="2100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테스트 결과에 대해 보고하는 단계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793790" y="2079546"/>
            <a:ext cx="6430685" cy="2950250"/>
          </a:xfrm>
          <a:prstGeom prst="roundRect">
            <a:avLst>
              <a:gd fmla="val 923" name="adj"/>
            </a:avLst>
          </a:prstGeom>
          <a:solidFill>
            <a:srgbClr val="F3EE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2875002" y="2260997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750"/>
              <a:buFont typeface="MuseoModerno Medium"/>
              <a:buNone/>
            </a:pPr>
            <a:r>
              <a:rPr lang="en-US" sz="1750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주요 활동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975241" y="2653308"/>
            <a:ext cx="6067782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00"/>
              <a:buFont typeface="Source Sans 3"/>
              <a:buChar char="•"/>
            </a:pPr>
            <a:r>
              <a:rPr lang="en-US" sz="14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테스트 수행률 / 성공률 집계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975241" y="3007043"/>
            <a:ext cx="6067782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00"/>
              <a:buFont typeface="Source Sans 3"/>
              <a:buChar char="•"/>
            </a:pPr>
            <a:r>
              <a:rPr lang="en-US" sz="14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버그 총합 및 심각도 분류(Critical, Major, Minor 등)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975241" y="3360777"/>
            <a:ext cx="6067782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00"/>
              <a:buFont typeface="Source Sans 3"/>
              <a:buChar char="•"/>
            </a:pPr>
            <a:r>
              <a:rPr lang="en-US" sz="14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잔여 리스크(미해결 이슈) 공유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975241" y="3714512"/>
            <a:ext cx="6067782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00"/>
              <a:buFont typeface="Source Sans 3"/>
              <a:buChar char="•"/>
            </a:pPr>
            <a:r>
              <a:rPr lang="en-US" sz="14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결과 보고서 전달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975241" y="4068247"/>
            <a:ext cx="6067782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00"/>
              <a:buFont typeface="Source Sans 3"/>
              <a:buChar char="•"/>
            </a:pPr>
            <a:r>
              <a:rPr lang="en-US" sz="14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포스트 모텀 진행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7405926" y="2079546"/>
            <a:ext cx="6430685" cy="2950250"/>
          </a:xfrm>
          <a:prstGeom prst="roundRect">
            <a:avLst>
              <a:gd fmla="val 923" name="adj"/>
            </a:avLst>
          </a:prstGeom>
          <a:solidFill>
            <a:srgbClr val="F3EE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9487138" y="2260997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750"/>
              <a:buFont typeface="MuseoModerno Medium"/>
              <a:buNone/>
            </a:pPr>
            <a:r>
              <a:rPr lang="en-US" sz="1750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QA 포인트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7587377" y="2653308"/>
            <a:ext cx="6067782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00"/>
              <a:buFont typeface="Source Sans 3"/>
              <a:buNone/>
            </a:pPr>
            <a:r>
              <a:rPr lang="en-US" sz="14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단순 결과 집계 외에 </a:t>
            </a:r>
            <a:r>
              <a:rPr b="1" lang="en-US" sz="140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리스크가 높은 영역</a:t>
            </a:r>
            <a:r>
              <a:rPr lang="en-US" sz="14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을 보고서에 강조합니다.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7587377" y="3052405"/>
            <a:ext cx="6067782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00"/>
              <a:buFont typeface="Source Sans 3"/>
              <a:buNone/>
            </a:pPr>
            <a:r>
              <a:rPr lang="en-US" sz="14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포스트 모텀에서는</a:t>
            </a:r>
            <a:r>
              <a:rPr lang="en-US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아래 사항에 대한 의견을 도출합니다.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7587377" y="3451503"/>
            <a:ext cx="6067782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00"/>
              <a:buFont typeface="Source Sans 3"/>
              <a:buChar char="•"/>
            </a:pPr>
            <a:r>
              <a:rPr lang="en-US" sz="14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잘된 점과 아쉬운 점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7587377" y="3805238"/>
            <a:ext cx="6067782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00"/>
              <a:buFont typeface="Source Sans 3"/>
              <a:buChar char="•"/>
            </a:pPr>
            <a:r>
              <a:rPr lang="en-US" sz="14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개선이 필요한 점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7587377" y="4158972"/>
            <a:ext cx="6067782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00"/>
              <a:buFont typeface="Source Sans 3"/>
              <a:buChar char="•"/>
            </a:pPr>
            <a:r>
              <a:rPr lang="en-US" sz="14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다음 사이클에 적용할 개선 방안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065967" y="5506045"/>
            <a:ext cx="2721888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100"/>
              <a:buFont typeface="MuseoModerno Medium"/>
              <a:buNone/>
            </a:pPr>
            <a:r>
              <a:rPr lang="en-US" sz="2100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실제 사례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065967" y="6118384"/>
            <a:ext cx="12770644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상황:</a:t>
            </a:r>
            <a:r>
              <a:rPr lang="en-US" sz="14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경험 기반 및 연동 관련 테스트 케이스 </a:t>
            </a:r>
            <a:r>
              <a:rPr b="1" lang="en-US" sz="140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누락으로 이슈 발생</a:t>
            </a:r>
            <a:r>
              <a:rPr lang="en-US" sz="14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, QA 종료 후 해당 케이스 재작성 필요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1065967" y="6612731"/>
            <a:ext cx="12770644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QA 활동:</a:t>
            </a:r>
            <a:r>
              <a:rPr lang="en-US" sz="14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포스트 모텀을 통해 </a:t>
            </a:r>
            <a:r>
              <a:rPr b="1" lang="en-US" sz="140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누락 원인 및 개선점을 도출</a:t>
            </a:r>
            <a:r>
              <a:rPr lang="en-US" sz="14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, 이후 기획서 리뷰 단계에서 </a:t>
            </a:r>
            <a:r>
              <a:rPr b="1" lang="en-US" sz="140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관련 항목 리마인드 및 확인 프로세스 강화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1065967" y="7107079"/>
            <a:ext cx="12770644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결과:</a:t>
            </a:r>
            <a:r>
              <a:rPr lang="en-US" sz="14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테스트 케이스 누락을 </a:t>
            </a:r>
            <a:r>
              <a:rPr b="1" lang="en-US" sz="140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사전에 방지할 수 있는 체계 마련</a:t>
            </a:r>
            <a:r>
              <a:rPr lang="en-US" sz="14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, 기획서 리뷰 단계에서 반복적으로 확인하여 품질 관리 프로세스 개선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793790" y="5233868"/>
            <a:ext cx="22860" cy="2367558"/>
          </a:xfrm>
          <a:prstGeom prst="rect">
            <a:avLst/>
          </a:prstGeom>
          <a:solidFill>
            <a:srgbClr val="325F7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>
            <a:off x="754023" y="592455"/>
            <a:ext cx="3501152" cy="437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36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 Medium"/>
              <a:buNone/>
            </a:pPr>
            <a:r>
              <a:rPr lang="en-US" sz="2750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08_사후 관리</a:t>
            </a:r>
            <a:endParaRPr sz="2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754023" y="1240155"/>
            <a:ext cx="4775478" cy="262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650"/>
              <a:buFont typeface="MuseoModerno Medium"/>
              <a:buNone/>
            </a:pPr>
            <a:r>
              <a:rPr lang="en-US" sz="1650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업데이트 후 발생하는 라이브 이슈를 모니터링하는 단계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754023" y="2080260"/>
            <a:ext cx="6390323" cy="1087993"/>
          </a:xfrm>
          <a:prstGeom prst="roundRect">
            <a:avLst>
              <a:gd fmla="val 6724" name="adj"/>
            </a:avLst>
          </a:prstGeom>
          <a:solidFill>
            <a:srgbClr val="FFFC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754023" y="2065020"/>
            <a:ext cx="6390323" cy="60960"/>
          </a:xfrm>
          <a:prstGeom prst="roundRect">
            <a:avLst>
              <a:gd fmla="val 34460" name="adj"/>
            </a:avLst>
          </a:prstGeom>
          <a:solidFill>
            <a:srgbClr val="325F7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3739158" y="1870234"/>
            <a:ext cx="420053" cy="420053"/>
          </a:xfrm>
          <a:prstGeom prst="roundRect">
            <a:avLst>
              <a:gd fmla="val 217687" name="adj"/>
            </a:avLst>
          </a:prstGeom>
          <a:solidFill>
            <a:srgbClr val="325F7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3865126" y="1975247"/>
            <a:ext cx="167997" cy="210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useoModerno Medium"/>
              <a:buNone/>
            </a:pPr>
            <a:r>
              <a:rPr lang="en-US" sz="1300">
                <a:solidFill>
                  <a:srgbClr val="FFFFFF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909280" y="2430304"/>
            <a:ext cx="1750576" cy="218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lang="en-US" sz="1350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라이브 모니터링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909280" y="2789039"/>
            <a:ext cx="6079808" cy="223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lang="en-US" sz="11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업데이트 직후 </a:t>
            </a:r>
            <a:r>
              <a:rPr b="1" lang="en-US" sz="110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치명적 이슈</a:t>
            </a:r>
            <a:r>
              <a:rPr lang="en-US" sz="11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(결제, 접속, 진행 불가 버그 등)에 대한 집중 검증을 진행합니다.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754023" y="3518297"/>
            <a:ext cx="6390323" cy="1087993"/>
          </a:xfrm>
          <a:prstGeom prst="roundRect">
            <a:avLst>
              <a:gd fmla="val 6724" name="adj"/>
            </a:avLst>
          </a:prstGeom>
          <a:solidFill>
            <a:srgbClr val="FFFC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754023" y="3503057"/>
            <a:ext cx="6390323" cy="60960"/>
          </a:xfrm>
          <a:prstGeom prst="roundRect">
            <a:avLst>
              <a:gd fmla="val 34460" name="adj"/>
            </a:avLst>
          </a:prstGeom>
          <a:solidFill>
            <a:srgbClr val="325F7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3739158" y="3308271"/>
            <a:ext cx="420053" cy="420053"/>
          </a:xfrm>
          <a:prstGeom prst="roundRect">
            <a:avLst>
              <a:gd fmla="val 217687" name="adj"/>
            </a:avLst>
          </a:prstGeom>
          <a:solidFill>
            <a:srgbClr val="325F7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3865126" y="3413284"/>
            <a:ext cx="167997" cy="210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useoModerno Medium"/>
              <a:buNone/>
            </a:pPr>
            <a:r>
              <a:rPr lang="en-US" sz="1300">
                <a:solidFill>
                  <a:srgbClr val="FFFFFF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909280" y="3868341"/>
            <a:ext cx="1750576" cy="218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lang="en-US" sz="1350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우선순위 재조정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909280" y="4227076"/>
            <a:ext cx="6079808" cy="223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lang="en-US" sz="11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고객 제보 버그와 실제 발생 빈도의 교차 검증을 통해 대응 우선순위를 재조정합니다.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754023" y="4956334"/>
            <a:ext cx="6390323" cy="1087993"/>
          </a:xfrm>
          <a:prstGeom prst="roundRect">
            <a:avLst>
              <a:gd fmla="val 6724" name="adj"/>
            </a:avLst>
          </a:prstGeom>
          <a:solidFill>
            <a:srgbClr val="FFFC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754023" y="4941094"/>
            <a:ext cx="6390323" cy="60960"/>
          </a:xfrm>
          <a:prstGeom prst="roundRect">
            <a:avLst>
              <a:gd fmla="val 34460" name="adj"/>
            </a:avLst>
          </a:prstGeom>
          <a:solidFill>
            <a:srgbClr val="325F7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3739158" y="4746308"/>
            <a:ext cx="420053" cy="420053"/>
          </a:xfrm>
          <a:prstGeom prst="roundRect">
            <a:avLst>
              <a:gd fmla="val 217687" name="adj"/>
            </a:avLst>
          </a:prstGeom>
          <a:solidFill>
            <a:srgbClr val="325F7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3865126" y="4851321"/>
            <a:ext cx="167997" cy="210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useoModerno Medium"/>
              <a:buNone/>
            </a:pPr>
            <a:r>
              <a:rPr lang="en-US" sz="1300">
                <a:solidFill>
                  <a:srgbClr val="FFFFFF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909280" y="5306378"/>
            <a:ext cx="1750576" cy="218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lang="en-US" sz="1350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핫픽스 전략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909280" y="5665113"/>
            <a:ext cx="6079808" cy="223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lang="en-US" sz="11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핫픽스 대응 시 Regression Test 범위를 최소화하는 전략을 적용합니다(핵심 기능 위주).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754023" y="6394371"/>
            <a:ext cx="6390323" cy="1087993"/>
          </a:xfrm>
          <a:prstGeom prst="roundRect">
            <a:avLst>
              <a:gd fmla="val 6724" name="adj"/>
            </a:avLst>
          </a:prstGeom>
          <a:solidFill>
            <a:srgbClr val="FFFC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754023" y="6379131"/>
            <a:ext cx="6390323" cy="60960"/>
          </a:xfrm>
          <a:prstGeom prst="roundRect">
            <a:avLst>
              <a:gd fmla="val 34460" name="adj"/>
            </a:avLst>
          </a:prstGeom>
          <a:solidFill>
            <a:srgbClr val="325F7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3739158" y="6184344"/>
            <a:ext cx="420053" cy="420053"/>
          </a:xfrm>
          <a:prstGeom prst="roundRect">
            <a:avLst>
              <a:gd fmla="val 217687" name="adj"/>
            </a:avLst>
          </a:prstGeom>
          <a:solidFill>
            <a:srgbClr val="325F7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3865126" y="6289358"/>
            <a:ext cx="167997" cy="210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useoModerno Medium"/>
              <a:buNone/>
            </a:pPr>
            <a:r>
              <a:rPr lang="en-US" sz="1300">
                <a:solidFill>
                  <a:srgbClr val="FFFFFF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909280" y="6744414"/>
            <a:ext cx="1750576" cy="218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lang="en-US" sz="1350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인사이트 피드백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909280" y="7103150"/>
            <a:ext cx="6079808" cy="223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lang="en-US" sz="110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사후 모니터링으로 얻은 인사이트를 다음 테스트 플랜 수립 단계에 피드백합니다.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7493675" y="3737491"/>
            <a:ext cx="6776725" cy="1877497"/>
          </a:xfrm>
          <a:prstGeom prst="roundRect">
            <a:avLst>
              <a:gd fmla="val 1119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3" name="Google Shape;24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3692" y="3926919"/>
            <a:ext cx="218718" cy="17502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9"/>
          <p:cNvSpPr/>
          <p:nvPr/>
        </p:nvSpPr>
        <p:spPr>
          <a:xfrm>
            <a:off x="7992428" y="3912513"/>
            <a:ext cx="1750576" cy="218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MuseoModerno Medium"/>
              <a:buNone/>
            </a:pPr>
            <a:r>
              <a:rPr lang="en-US" sz="1350">
                <a:solidFill>
                  <a:srgbClr val="00000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실제 사례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7992428" y="4271248"/>
            <a:ext cx="5751552" cy="223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ource Sans 3"/>
              <a:buNone/>
            </a:pPr>
            <a:r>
              <a:rPr b="1" lang="en-US" sz="11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상황:</a:t>
            </a:r>
            <a:r>
              <a:rPr lang="en-US" sz="11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업데이트 당일 메인 퀘스트 특정 분기에서 오브젝트 위치 문제로 </a:t>
            </a:r>
            <a:r>
              <a:rPr b="1" lang="en-US" sz="110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캐릭터 이동 불가능한 현상</a:t>
            </a:r>
            <a:r>
              <a:rPr lang="en-US" sz="11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발생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7992428" y="4621173"/>
            <a:ext cx="5751552" cy="223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ource Sans 3"/>
              <a:buNone/>
            </a:pPr>
            <a:r>
              <a:rPr b="1" lang="en-US" sz="11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QA 활동:</a:t>
            </a:r>
            <a:r>
              <a:rPr lang="en-US" sz="11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해당 퀘스트 분기를 </a:t>
            </a:r>
            <a:r>
              <a:rPr b="1" lang="en-US" sz="110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사전에 모니터링하여 발견</a:t>
            </a:r>
            <a:r>
              <a:rPr lang="en-US" sz="11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, 라이브 이슈로 </a:t>
            </a:r>
            <a:r>
              <a:rPr b="1" lang="en-US" sz="110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즉시 전달 및 대응안 요청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7992428" y="4971098"/>
            <a:ext cx="5751552" cy="447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ource Sans 3"/>
              <a:buNone/>
            </a:pPr>
            <a:r>
              <a:rPr b="1" lang="en-US" sz="11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결과:</a:t>
            </a:r>
            <a:r>
              <a:rPr lang="en-US" sz="11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해당 퀘스트의 노출 빈도가 높지 않음을 확인(</a:t>
            </a:r>
            <a:r>
              <a:rPr b="1" lang="en-US" sz="110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서비스 영향 최소화</a:t>
            </a:r>
            <a:r>
              <a:rPr lang="en-US" sz="11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), 차주 업데이트에 </a:t>
            </a:r>
            <a:r>
              <a:rPr b="1" lang="en-US" sz="1100">
                <a:solidFill>
                  <a:srgbClr val="325F7B"/>
                </a:solidFill>
                <a:latin typeface="Source Sans 3"/>
                <a:ea typeface="Source Sans 3"/>
                <a:cs typeface="Source Sans 3"/>
                <a:sym typeface="Source Sans 3"/>
              </a:rPr>
              <a:t>수정 사항 반영</a:t>
            </a:r>
            <a:r>
              <a:rPr lang="en-US" sz="11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, 라이브 이슈 확대 방지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2025-09-02T08:02:22Z</dcterms:created>
</cp:coreProperties>
</file>